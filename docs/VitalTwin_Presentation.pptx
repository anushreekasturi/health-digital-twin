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78D6"/>
                </a:solidFill>
                <a:latin typeface="Segoe UI"/>
              </a:rPr>
              <a:t>HAPPIEST HEALTH · DIGITAL TWIN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B0B0B"/>
                </a:solidFill>
                <a:latin typeface="Segoe UI"/>
              </a:rPr>
              <a:t>VitalTwin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2514E"/>
                </a:solidFill>
                <a:latin typeface="Segoe UI"/>
              </a:rPr>
              <a:t>A personal digital twin for chronic-disease patients that monitors, predicts and simulates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Segoe UI"/>
              </a:rPr>
              <a:t>Team: Nexon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Segoe UI"/>
              </a:rPr>
              <a:t>Members: Anushree Kasturi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Segoe UI"/>
              </a:rPr>
              <a:t>Institution: Amrita Vishwa Vidyapeetham, Bengaluru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Segoe UI"/>
              </a:rPr>
              <a:t>Live demo: https://vitaltwin.streamlit.app/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The problem: chronic disease is managed in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Segoe UI"/>
              </a:rPr>
              <a:t>•  </a:t>
            </a:r>
            <a:r>
              <a:rPr sz="1500" b="1">
                <a:solidFill>
                  <a:srgbClr val="0B0B0B"/>
                </a:solidFill>
                <a:latin typeface="Segoe UI"/>
              </a:rPr>
              <a:t>India has 100M+ people with diabetes</a:t>
            </a:r>
            <a:r>
              <a:rPr sz="1500">
                <a:solidFill>
                  <a:srgbClr val="52514E"/>
                </a:solidFill>
                <a:latin typeface="Segoe UI"/>
              </a:rPr>
              <a:t>  and ~315M with hypertension; many are undiagnosed or poorly controlled (ICMR-INDIAB, 2023).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Segoe UI"/>
              </a:rPr>
              <a:t>•  </a:t>
            </a:r>
            <a:r>
              <a:rPr sz="1500" b="1">
                <a:solidFill>
                  <a:srgbClr val="0B0B0B"/>
                </a:solidFill>
                <a:latin typeface="Segoe UI"/>
              </a:rPr>
              <a:t>Care is episodic</a:t>
            </a:r>
            <a:r>
              <a:rPr sz="1500">
                <a:solidFill>
                  <a:srgbClr val="52514E"/>
                </a:solidFill>
                <a:latin typeface="Segoe UI"/>
              </a:rPr>
              <a:t> - a clinic visit every 3 months sees one BP reading and one HbA1c, while the disease evolves every day.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Segoe UI"/>
              </a:rPr>
              <a:t>•  </a:t>
            </a:r>
            <a:r>
              <a:rPr sz="1500" b="1">
                <a:solidFill>
                  <a:srgbClr val="0B0B0B"/>
                </a:solidFill>
                <a:latin typeface="Segoe UI"/>
              </a:rPr>
              <a:t>Wearables &amp; CGMs produce rich data</a:t>
            </a:r>
            <a:r>
              <a:rPr sz="1500">
                <a:solidFill>
                  <a:srgbClr val="52514E"/>
                </a:solidFill>
                <a:latin typeface="Segoe UI"/>
              </a:rPr>
              <a:t>, but nobody turns it into a personal, predictive model of the patient.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Segoe UI"/>
              </a:rPr>
              <a:t>•  </a:t>
            </a:r>
            <a:r>
              <a:rPr sz="1500" b="1">
                <a:solidFill>
                  <a:srgbClr val="0B0B0B"/>
                </a:solidFill>
                <a:latin typeface="Segoe UI"/>
              </a:rPr>
              <a:t>Interventions are trial-and-error</a:t>
            </a:r>
            <a:r>
              <a:rPr sz="1500">
                <a:solidFill>
                  <a:srgbClr val="52514E"/>
                </a:solidFill>
                <a:latin typeface="Segoe UI"/>
              </a:rPr>
              <a:t> - doctors cannot test 'what if this patient walks 30 min and cuts salt?' before prescribing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5448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Our question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/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Can we build a living virtual replica of each patient that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stays synced with their real data, flags deterioration early,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predicts long-term risk, and lets clinicians safely test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interventions on the twin first?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WHO USES IT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Healthcare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700" b="1">
                <a:solidFill>
                  <a:srgbClr val="0B0B0B"/>
                </a:solidFill>
                <a:latin typeface="Segoe UI"/>
              </a:rPr>
              <a:t>👤 Patient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Sees their own twin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Understands what drives risk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Plans meals &amp; activity on the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glucose twin before eating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700" b="1">
                <a:solidFill>
                  <a:srgbClr val="0B0B0B"/>
                </a:solidFill>
                <a:latin typeface="Segoe UI"/>
              </a:rPr>
              <a:t>🩺 Clinician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Remote monitoring dashboard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Prioritised critical alerts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Tests therapy plans on the twin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before prescribing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700" b="1">
                <a:solidFill>
                  <a:srgbClr val="0B0B0B"/>
                </a:solidFill>
                <a:latin typeface="Segoe UI"/>
              </a:rPr>
              <a:t>🏥 Care program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Population triage by risk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Preventive outreach for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pre-diabetic / hypertensive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members (e.g. corporate wellness)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Segoe UI"/>
              </a:rPr>
              <a:t>Example journey - Ravi, 52, pre-diabetic, hypertensive smoker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Twin syncs</a:t>
            </a:r>
            <a:r>
              <a:rPr sz="1300">
                <a:solidFill>
                  <a:srgbClr val="52514E"/>
                </a:solidFill>
                <a:latin typeface="Segoe UI"/>
              </a:rPr>
              <a:t> 48 h of smartwatch, CGM and BP-cuff data and calibrates his insulin sensitivity (−29 % vs population prior).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Monitoring</a:t>
            </a:r>
            <a:r>
              <a:rPr sz="1300">
                <a:solidFill>
                  <a:srgbClr val="52514E"/>
                </a:solidFill>
                <a:latin typeface="Segoe UI"/>
              </a:rPr>
              <a:t> catches a tachycardia episode, a night-time SpO₂ dip and a hypoglycaemic event as critical alerts.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Risk view</a:t>
            </a:r>
            <a:r>
              <a:rPr sz="1300">
                <a:solidFill>
                  <a:srgbClr val="52514E"/>
                </a:solidFill>
                <a:latin typeface="Segoe UI"/>
              </a:rPr>
              <a:t> shows 15 % diabetes / 19 % CVD 10-yr risk; smoking and systolic BP are the top modifiable drivers.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What-if</a:t>
            </a:r>
            <a:r>
              <a:rPr sz="1300">
                <a:solidFill>
                  <a:srgbClr val="52514E"/>
                </a:solidFill>
                <a:latin typeface="Segoe UI"/>
              </a:rPr>
              <a:t> a realistic plan (300 kcal deficit, 150 min/wk exercise, 2.5 g salt, quit smoking, 80 % adherence) cuts CVD risk to ~6 % in 24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Solution: a hybrid physics +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2000" b="1">
                <a:solidFill>
                  <a:srgbClr val="0B0B0B"/>
                </a:solidFill>
                <a:latin typeface="Segoe UI"/>
              </a:rPr>
              <a:t>Sync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Ingest multi-sensor streams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EWMA state estimation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Calibrate physiology to the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patient's CGM (least squares)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EDEBF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2000" b="1">
                <a:solidFill>
                  <a:srgbClr val="0B0B0B"/>
                </a:solidFill>
                <a:latin typeface="Segoe UI"/>
              </a:rPr>
              <a:t>Monitor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Personal baselines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IsolationForest anomalies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Clinical hard limits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De-duplicated alert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2000" b="1">
                <a:solidFill>
                  <a:srgbClr val="0B0B0B"/>
                </a:solidFill>
                <a:latin typeface="Segoe UI"/>
              </a:rPr>
              <a:t>Predict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10-yr T2D &amp; CVD risk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Calibrated gradient boosting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Counterfactual explanations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of modifiable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5544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2000" b="1">
                <a:solidFill>
                  <a:srgbClr val="0B0B0B"/>
                </a:solidFill>
                <a:latin typeface="Segoe UI"/>
              </a:rPr>
              <a:t>Simulate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Glucose-insulin ODE (24 h)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Lifestyle &amp; medication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projection (12-52 wks)</a:t>
            </a:r>
          </a:p>
          <a:p>
            <a:pPr algn="l"/>
            <a:r>
              <a:rPr sz="1300">
                <a:solidFill>
                  <a:srgbClr val="52514E"/>
                </a:solidFill>
                <a:latin typeface="Segoe UI"/>
              </a:rPr>
              <a:t>Scenario vs. no-change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Why hybrid? Mechanistic models give physiologically plausible, explainable simulations with little data;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ML models capture population risk patterns that equations miss. Together they make a twin that can both explain and predict.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1 · PHYSICAL PATIENT &amp;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⌚ Smartwatch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HR · SpO₂ · skin temp · steps (1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50592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🩸 CGM sensor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Glucose every 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46704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🩺 BP cuff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Systolic / diastolic, 3×/day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42816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📋 EHR &amp; labs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HbA1c · lipids · history · meds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138928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📝 Patient log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Meals · exercise · sleep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2 · INGESTION &amp; TWIN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55448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Stream ingestion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Resample to 5-min windows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Interpolate gaps, de-noise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pandas pipeline (twin/data.py)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92608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State estimation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EWMA blend of EHR + sensors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Resting HR · BP · fasting glucose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(twin/sync.py)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2976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Physiological calibration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Fit insulin sensitivity SI and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basal glucose Gb to CGM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SciPy Nelder-Mead least squares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RMSE → sensor-noise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234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3 · DIGITAL TWIN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554480"/>
            <a:ext cx="329184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A78D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23560" y="169164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Twin state store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Patient profile + calibrated parameters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468880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Physiology engine (mechanistic)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Bergman minimal model: glucose-insulin,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meals, exercise, metformin (1-min ODE)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Lifestyle model: weight · BP · HR · LDL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· HbA1c (ADAG) week-by-week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4023360"/>
            <a:ext cx="3017520" cy="1554480"/>
          </a:xfrm>
          <a:prstGeom prst="roundRect">
            <a:avLst>
              <a:gd name="adj" fmla="val 8000"/>
            </a:avLst>
          </a:prstGeom>
          <a:solidFill>
            <a:srgbClr val="EDEBF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AI / ML engine (data-driven)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Calibrated HistGradientBoosting: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10-yr T2D &amp; CVD risk (AUC 0.87 / 0.82)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Counterfactual risk-driver explainer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IsolationForest + personal z-score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+ clinical limits →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4 · APPLICATIONS (STREAMLIT)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55448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🧬 Twin state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Sync view &amp; calibration 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395728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📡 Live monitoring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Vitals replay + alert feed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236976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⚠️ Risk drivers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Explainable 10-yr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078224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🔮 What-if simulator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Compare plans over 12-52 wks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4919472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🩸 Glucose twin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Plan a day: meals, walk, meds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68880" y="1947672"/>
            <a:ext cx="320040" cy="22860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68880" y="2843784"/>
            <a:ext cx="320040" cy="704088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68880" y="3739896"/>
            <a:ext cx="320040" cy="1179576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68880" y="4636008"/>
            <a:ext cx="320040" cy="283464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468880" y="4919472"/>
            <a:ext cx="320040" cy="612648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77639" y="2788920"/>
            <a:ext cx="0" cy="13716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77639" y="4160520"/>
            <a:ext cx="0" cy="13716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66360" y="3520440"/>
            <a:ext cx="320040" cy="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66360" y="4983479"/>
            <a:ext cx="320040" cy="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78240" y="1920240"/>
            <a:ext cx="320040" cy="169164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778240" y="2761488"/>
            <a:ext cx="320040" cy="850392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78240" y="3602736"/>
            <a:ext cx="320040" cy="9144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78240" y="3611880"/>
            <a:ext cx="320040" cy="832104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78240" y="3611880"/>
            <a:ext cx="320040" cy="1673352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65760" y="5943600"/>
            <a:ext cx="11475720" cy="5029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52514E"/>
                </a:solidFill>
                <a:latin typeface="Segoe UI"/>
              </a:rPr>
              <a:t>Closed loop:  clinician / patient chooses an intervention on the twin  →  applied to the real patient  →  new sensor data re-syncs and re-calibrates the twin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MODEL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AI / ML models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931920"/>
                <a:gridCol w="2103120"/>
                <a:gridCol w="2926080"/>
              </a:tblGrid>
              <a:tr h="4800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10-yr T2D risk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HistGradientBoosting + isotonic calibration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scikit-learn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AUC 0.868 · Brier 0.030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10-yr CVD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HistGradientBoosting + isotonic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AUC 0.818 · Brier 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Risk explanation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Counterfactual: factor → healthy target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custom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Per-patient ranked drivers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Anomaly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IsolationForest + personal z-score +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All injected events caught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Glucose physiology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Bergman minimal model + gut absorption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NumPy (Euler, 1 min)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Est. HbA1c within 0.3 % of labs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Twin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Nelder-Mead least squares on SI,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SciPy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SI recovered within ~2 %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Lifestyle projection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Effect-size model, coupled to ODE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NumPy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Weight · BP · LDL · HbA1c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Trained on a 20,000-person synthetic cohort with FINDRISC / Framingham-inspired risk structure (80/20 stratified split). No real patient data is used; the pipeline is ready to retrain on NHANES, UK Biobank or hospital EHR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DEMO ·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Twin state &amp; physiological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pic>
        <p:nvPicPr>
          <p:cNvPr id="6" name="Picture 5" descr="twin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4914900"/>
          </a:xfrm>
          <a:prstGeom prst="rect">
            <a:avLst/>
          </a:prstGeom>
          <a:ln>
            <a:solidFill>
              <a:srgbClr val="C3C2B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Segoe UI"/>
              </a:rPr>
              <a:t>EHR values are blended with 48 h of sensor data; the glucose model is fitted to this patient's CGM trace.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DEMO ·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Live monitoring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pic>
        <p:nvPicPr>
          <p:cNvPr id="6" name="Picture 5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4914900"/>
          </a:xfrm>
          <a:prstGeom prst="rect">
            <a:avLst/>
          </a:prstGeom>
          <a:ln>
            <a:solidFill>
              <a:srgbClr val="C3C2B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Segoe UI"/>
              </a:rPr>
              <a:t>Personal ±3 SD baselines, multivariate anomalies and clinical limits produce a prioritised alert feed.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DEMO ·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Explainable risk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pic>
        <p:nvPicPr>
          <p:cNvPr id="6" name="Picture 5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4914900"/>
          </a:xfrm>
          <a:prstGeom prst="rect">
            <a:avLst/>
          </a:prstGeom>
          <a:ln>
            <a:solidFill>
              <a:srgbClr val="C3C2B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Segoe UI"/>
              </a:rPr>
              <a:t>Each bar = risk reduction if that one factor reached its healthy target - actionable, not just a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DEMO · SIMULATE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What-if intervention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whatif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4914900"/>
          </a:xfrm>
          <a:prstGeom prst="rect">
            <a:avLst/>
          </a:prstGeom>
          <a:ln>
            <a:solidFill>
              <a:srgbClr val="C3C2B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Segoe UI"/>
              </a:rPr>
              <a:t>Compare a care plan against no change before the patient commits to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DEMO · SIMULATE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Glucose twin: plan a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pic>
        <p:nvPicPr>
          <p:cNvPr id="6" name="Picture 5" descr="gluc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4914900"/>
          </a:xfrm>
          <a:prstGeom prst="rect">
            <a:avLst/>
          </a:prstGeom>
          <a:ln>
            <a:solidFill>
              <a:srgbClr val="C3C2B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Segoe UI"/>
              </a:rPr>
              <a:t>Move meals, change carbs, add a walk or metformin - see time-in-range before it happens.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RESULTS OF THE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0.87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AUC · diabetes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0.82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AUC · CVD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~2 %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error recovering hidden insulin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5544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4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injected clinical events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A78D6"/>
                </a:solidFill>
                <a:latin typeface="Segoe UI"/>
              </a:rPr>
              <a:t>•  </a:t>
            </a:r>
            <a:r>
              <a:rPr sz="1400" b="1">
                <a:solidFill>
                  <a:srgbClr val="0B0B0B"/>
                </a:solidFill>
                <a:latin typeface="Segoe UI"/>
              </a:rPr>
              <a:t>Working end-to-end twin</a:t>
            </a:r>
            <a:r>
              <a:rPr sz="1400">
                <a:solidFill>
                  <a:srgbClr val="52514E"/>
                </a:solidFill>
                <a:latin typeface="Segoe UI"/>
              </a:rPr>
              <a:t> - sync, monitor, predict, explain and simulate in one interactive app.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A78D6"/>
                </a:solidFill>
                <a:latin typeface="Segoe UI"/>
              </a:rPr>
              <a:t>•  </a:t>
            </a:r>
            <a:r>
              <a:rPr sz="1400" b="1">
                <a:solidFill>
                  <a:srgbClr val="0B0B0B"/>
                </a:solidFill>
                <a:latin typeface="Segoe UI"/>
              </a:rPr>
              <a:t>Physiologically grounded</a:t>
            </a:r>
            <a:r>
              <a:rPr sz="1400">
                <a:solidFill>
                  <a:srgbClr val="52514E"/>
                </a:solidFill>
                <a:latin typeface="Segoe UI"/>
              </a:rPr>
              <a:t> - simulated HbA1c within 0.3 % of each persona's lab value before any calibration.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A78D6"/>
                </a:solidFill>
                <a:latin typeface="Segoe UI"/>
              </a:rPr>
              <a:t>•  </a:t>
            </a:r>
            <a:r>
              <a:rPr sz="1400" b="1">
                <a:solidFill>
                  <a:srgbClr val="0B0B0B"/>
                </a:solidFill>
                <a:latin typeface="Segoe UI"/>
              </a:rPr>
              <a:t>Actionable</a:t>
            </a:r>
            <a:r>
              <a:rPr sz="1400">
                <a:solidFill>
                  <a:srgbClr val="52514E"/>
                </a:solidFill>
                <a:latin typeface="Segoe UI"/>
              </a:rPr>
              <a:t> - for the demo patient a realistic plan lowers 10-yr CVD risk from 19 % to ~6 % and diabetes risk from 15 % to ~8 % in 24 weeks.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A78D6"/>
                </a:solidFill>
                <a:latin typeface="Segoe UI"/>
              </a:rPr>
              <a:t>•  </a:t>
            </a:r>
            <a:r>
              <a:rPr sz="1400" b="1">
                <a:solidFill>
                  <a:srgbClr val="0B0B0B"/>
                </a:solidFill>
                <a:latin typeface="Segoe UI"/>
              </a:rPr>
              <a:t>Tested</a:t>
            </a:r>
            <a:r>
              <a:rPr sz="1400">
                <a:solidFill>
                  <a:srgbClr val="52514E"/>
                </a:solidFill>
                <a:latin typeface="Segoe UI"/>
              </a:rPr>
              <a:t> - 10 automated tests cover the physiology, calibration, ML ranking and anomaly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800" b="1">
                <a:solidFill>
                  <a:srgbClr val="0B0B0B"/>
                </a:solidFill>
                <a:latin typeface="Segoe UI"/>
              </a:rPr>
              <a:t>Current limitations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/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Synthetic training cohort - risks are illustrative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Effect sizes simplified from literature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Simulated sensor streams, single-patient app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Not clinically validated; not a medical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800" b="1">
                <a:solidFill>
                  <a:srgbClr val="0B0B0B"/>
                </a:solidFill>
                <a:latin typeface="Segoe UI"/>
              </a:rPr>
              <a:t>Roadmap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/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Retrain on real cohorts (NHANES, ICMR-INDIAB, EHR)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Live device APIs: Health Connect, HealthKit, Libre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FHIR integration &amp; clinician multi-patient view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Kalman / Bayesian twin updating with uncertainty bands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Cardiac (HRV, ECG) and renal sub-models</a:t>
            </a:r>
          </a:p>
          <a:p>
            <a:pPr algn="l"/>
            <a:r>
              <a:rPr sz="1400">
                <a:solidFill>
                  <a:srgbClr val="52514E"/>
                </a:solidFill>
                <a:latin typeface="Segoe UI"/>
              </a:rPr>
              <a:t>• Prospective validation study with a partner hospital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VITALTWIN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VitalTwin · Patient Digital Twin for Chronic Disease · Happiest Health Digital Twin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>Team: Nexon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>Members: Anushree Kasturi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>Institution: Amrita Vishwa Vidyapeetham, Bengaluru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>Live demo: https://vitaltwin.streamlit.app/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>Code: https://github.com/AnushreeKasturi/health-digital-twin</a:t>
            </a:r>
          </a:p>
          <a:p>
            <a:pPr algn="l"/>
            <a:r>
              <a:rPr sz="1800" b="0">
                <a:solidFill>
                  <a:srgbClr val="0B0B0B"/>
                </a:solidFill>
                <a:latin typeface="Segoe UI"/>
              </a:rPr>
              <a:t>Demo video: [Unlisted YouTube link]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Research prototype on synthetic data. Not intended for diagnosis or treatment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