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  <a:latin typeface="Segoe UI"/>
              </a:rP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VitalTwin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1 · PHYSICAL PATIENT &amp;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19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⌚ Smartwatch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HR · SpO₂ · skin temp · steps (1 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42032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🩸 CGM sensor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Glucose every 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38144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🩺 BP cuff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Systolic / diastolic, 3×/day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334256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📋 EHR &amp; labs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HbA1c · lipids · history · meds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230368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📝 Patient log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Meals · exercise · 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325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2 · INGESTION &amp; TWIN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19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Stream ingestion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Resample to 5-min windows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Interpolate gaps, de-noise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pandas pipeline (twin/data.py)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0175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State estimation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EWMA blend of EHR + sensors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Resting HR · BP · fasting glucose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(twin/sync.py)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38912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Physiological calibration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Fit insulin sensitivity SI and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basal glucose Gb to CGM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SciPy Nelder-Mead least squares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RMSE → sensor-noise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3 · DIGITAL TWIN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645919"/>
            <a:ext cx="32918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A78D6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78308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Twin state store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Patient profile + calibrated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560320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Physiology engine (mechanistic)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Bergman minimal model: glucose-insulin,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meals, exercise, metformin (1-min ODE)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Lifestyle model: weight · BP · HR · LDL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· HbA1c (ADAG) week-by-week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14800"/>
            <a:ext cx="3017520" cy="1554480"/>
          </a:xfrm>
          <a:prstGeom prst="roundRect">
            <a:avLst>
              <a:gd name="adj" fmla="val 8000"/>
            </a:avLst>
          </a:prstGeom>
          <a:solidFill>
            <a:srgbClr val="EDEBF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AI / ML engine (data-driven)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Calibrated HistGradientBoosting: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10-yr T2D &amp; CVD risk (AUC 0.87 / 0.82)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Counterfactual risk-driver explainer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IsolationForest + personal z-score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+ clinical limits →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98781"/>
                </a:solidFill>
                <a:latin typeface="Segoe UI"/>
              </a:rPr>
              <a:t>4 · APPLICATIONS (STREAMLIT)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19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🧬 Twin state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Sync view &amp; calibration 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487168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📡 Live monitoring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Vitals replay + alert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328415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⚠️ Risk drivers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Explainable 10-yr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4169664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🔮 What-if simulator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Compare plans over 12-52 wks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5010912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0B0B0B"/>
                </a:solidFill>
                <a:latin typeface="Segoe UI"/>
              </a:rPr>
              <a:t>🩸 Glucose twin</a:t>
            </a:r>
          </a:p>
          <a:p>
            <a:pPr algn="l"/>
            <a:r>
              <a:rPr sz="900">
                <a:solidFill>
                  <a:srgbClr val="52514E"/>
                </a:solidFill>
                <a:latin typeface="Segoe UI"/>
              </a:rPr>
              <a:t>Plan a day: meals, walk, meds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2039112"/>
            <a:ext cx="320040" cy="22860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68880" y="2935224"/>
            <a:ext cx="320040" cy="704088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68880" y="3831335"/>
            <a:ext cx="320040" cy="1179577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68880" y="4727448"/>
            <a:ext cx="320040" cy="28346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68880" y="5010912"/>
            <a:ext cx="320040" cy="612648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77639" y="2880360"/>
            <a:ext cx="0" cy="13716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77639" y="4251960"/>
            <a:ext cx="0" cy="13716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66360" y="3611880"/>
            <a:ext cx="320040" cy="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66360" y="5074920"/>
            <a:ext cx="320040" cy="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778240" y="2011680"/>
            <a:ext cx="320040" cy="1691640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78240" y="2852928"/>
            <a:ext cx="320040" cy="850392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78240" y="3694176"/>
            <a:ext cx="320040" cy="914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703320"/>
            <a:ext cx="320040" cy="832104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78240" y="3703320"/>
            <a:ext cx="320040" cy="1673352"/>
          </a:xfrm>
          <a:prstGeom prst="line">
            <a:avLst/>
          </a:prstGeom>
          <a:ln w="22225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65760" y="6035040"/>
            <a:ext cx="11475720" cy="5029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52514E"/>
                </a:solidFill>
                <a:latin typeface="Segoe UI"/>
              </a:rPr>
              <a:t>Closed loop:  clinician / patient chooses an intervention on the twin  →  applied to the real patient  →  new sensor data re-syncs and re-calibrates the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